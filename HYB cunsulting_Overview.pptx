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293" r:id="rId3"/>
    <p:sldId id="300" r:id="rId4"/>
    <p:sldId id="301" r:id="rId5"/>
    <p:sldId id="302" r:id="rId6"/>
    <p:sldId id="303" r:id="rId7"/>
    <p:sldId id="305" r:id="rId8"/>
    <p:sldId id="267" r:id="rId9"/>
    <p:sldId id="30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hate, Harsha" userId="326066ed-576f-48ef-b2a4-be1b12f752c5" providerId="ADAL" clId="{83775A73-7781-47DE-9664-FD9E42478D68}"/>
    <pc:docChg chg="undo custSel addSld delSld modSld sldOrd">
      <pc:chgData name="Barhate, Harsha" userId="326066ed-576f-48ef-b2a4-be1b12f752c5" providerId="ADAL" clId="{83775A73-7781-47DE-9664-FD9E42478D68}" dt="2026-07-10T10:31:42.445" v="6675" actId="20577"/>
      <pc:docMkLst>
        <pc:docMk/>
      </pc:docMkLst>
      <pc:sldChg chg="modSp mod ord">
        <pc:chgData name="Barhate, Harsha" userId="326066ed-576f-48ef-b2a4-be1b12f752c5" providerId="ADAL" clId="{83775A73-7781-47DE-9664-FD9E42478D68}" dt="2026-07-06T06:08:50.895" v="6634" actId="27636"/>
        <pc:sldMkLst>
          <pc:docMk/>
          <pc:sldMk cId="3388560932" sldId="267"/>
        </pc:sldMkLst>
        <pc:spChg chg="mod">
          <ac:chgData name="Barhate, Harsha" userId="326066ed-576f-48ef-b2a4-be1b12f752c5" providerId="ADAL" clId="{83775A73-7781-47DE-9664-FD9E42478D68}" dt="2026-07-06T06:08:41.181" v="6632" actId="20577"/>
          <ac:spMkLst>
            <pc:docMk/>
            <pc:sldMk cId="3388560932" sldId="267"/>
            <ac:spMk id="2" creationId="{2F2CC76A-93C3-C8D0-9C09-A623955EA1A8}"/>
          </ac:spMkLst>
        </pc:spChg>
        <pc:spChg chg="mod">
          <ac:chgData name="Barhate, Harsha" userId="326066ed-576f-48ef-b2a4-be1b12f752c5" providerId="ADAL" clId="{83775A73-7781-47DE-9664-FD9E42478D68}" dt="2026-07-06T06:08:50.895" v="6634" actId="27636"/>
          <ac:spMkLst>
            <pc:docMk/>
            <pc:sldMk cId="3388560932" sldId="267"/>
            <ac:spMk id="3" creationId="{8954040B-3FC8-3B79-2E0B-F28B8303259F}"/>
          </ac:spMkLst>
        </pc:spChg>
      </pc:sldChg>
      <pc:sldChg chg="modSp add mod ord">
        <pc:chgData name="Barhate, Harsha" userId="326066ed-576f-48ef-b2a4-be1b12f752c5" providerId="ADAL" clId="{83775A73-7781-47DE-9664-FD9E42478D68}" dt="2026-07-06T04:59:50.459" v="5680" actId="20577"/>
        <pc:sldMkLst>
          <pc:docMk/>
          <pc:sldMk cId="2970789734" sldId="293"/>
        </pc:sldMkLst>
        <pc:spChg chg="mod">
          <ac:chgData name="Barhate, Harsha" userId="326066ed-576f-48ef-b2a4-be1b12f752c5" providerId="ADAL" clId="{83775A73-7781-47DE-9664-FD9E42478D68}" dt="2026-07-06T04:59:50.459" v="5680" actId="20577"/>
          <ac:spMkLst>
            <pc:docMk/>
            <pc:sldMk cId="2970789734" sldId="293"/>
            <ac:spMk id="2" creationId="{11A8AB32-11B1-21D3-7746-ACB6E1E8D0D2}"/>
          </ac:spMkLst>
        </pc:spChg>
        <pc:spChg chg="mod">
          <ac:chgData name="Barhate, Harsha" userId="326066ed-576f-48ef-b2a4-be1b12f752c5" providerId="ADAL" clId="{83775A73-7781-47DE-9664-FD9E42478D68}" dt="2026-07-06T04:57:17.116" v="5540" actId="27636"/>
          <ac:spMkLst>
            <pc:docMk/>
            <pc:sldMk cId="2970789734" sldId="293"/>
            <ac:spMk id="3" creationId="{EC86AF18-5549-4B33-643E-0724261EE9FA}"/>
          </ac:spMkLst>
        </pc:spChg>
      </pc:sldChg>
      <pc:sldChg chg="modSp add mod">
        <pc:chgData name="Barhate, Harsha" userId="326066ed-576f-48ef-b2a4-be1b12f752c5" providerId="ADAL" clId="{83775A73-7781-47DE-9664-FD9E42478D68}" dt="2026-07-06T02:52:44.747" v="5142" actId="20577"/>
        <pc:sldMkLst>
          <pc:docMk/>
          <pc:sldMk cId="228105133" sldId="299"/>
        </pc:sldMkLst>
        <pc:spChg chg="mod">
          <ac:chgData name="Barhate, Harsha" userId="326066ed-576f-48ef-b2a4-be1b12f752c5" providerId="ADAL" clId="{83775A73-7781-47DE-9664-FD9E42478D68}" dt="2026-07-06T02:52:44.747" v="5142" actId="20577"/>
          <ac:spMkLst>
            <pc:docMk/>
            <pc:sldMk cId="228105133" sldId="299"/>
            <ac:spMk id="2" creationId="{E5AAC3C2-DEDB-4314-7F01-09FA699C7124}"/>
          </ac:spMkLst>
        </pc:spChg>
        <pc:spChg chg="mod">
          <ac:chgData name="Barhate, Harsha" userId="326066ed-576f-48ef-b2a4-be1b12f752c5" providerId="ADAL" clId="{83775A73-7781-47DE-9664-FD9E42478D68}" dt="2026-07-06T02:51:08.821" v="5131" actId="20577"/>
          <ac:spMkLst>
            <pc:docMk/>
            <pc:sldMk cId="228105133" sldId="299"/>
            <ac:spMk id="3" creationId="{40CC6D8A-8FB8-F878-2623-11A9731375A3}"/>
          </ac:spMkLst>
        </pc:spChg>
      </pc:sldChg>
      <pc:sldChg chg="modSp add mod">
        <pc:chgData name="Barhate, Harsha" userId="326066ed-576f-48ef-b2a4-be1b12f752c5" providerId="ADAL" clId="{83775A73-7781-47DE-9664-FD9E42478D68}" dt="2026-07-06T04:59:56.351" v="5682" actId="20577"/>
        <pc:sldMkLst>
          <pc:docMk/>
          <pc:sldMk cId="2631925503" sldId="300"/>
        </pc:sldMkLst>
        <pc:spChg chg="mod">
          <ac:chgData name="Barhate, Harsha" userId="326066ed-576f-48ef-b2a4-be1b12f752c5" providerId="ADAL" clId="{83775A73-7781-47DE-9664-FD9E42478D68}" dt="2026-07-06T04:59:56.351" v="5682" actId="20577"/>
          <ac:spMkLst>
            <pc:docMk/>
            <pc:sldMk cId="2631925503" sldId="300"/>
            <ac:spMk id="2" creationId="{E2FD4B2E-585B-0DBE-DE06-1625E36C2863}"/>
          </ac:spMkLst>
        </pc:spChg>
        <pc:spChg chg="mod">
          <ac:chgData name="Barhate, Harsha" userId="326066ed-576f-48ef-b2a4-be1b12f752c5" providerId="ADAL" clId="{83775A73-7781-47DE-9664-FD9E42478D68}" dt="2026-07-06T04:58:55.280" v="5678" actId="313"/>
          <ac:spMkLst>
            <pc:docMk/>
            <pc:sldMk cId="2631925503" sldId="300"/>
            <ac:spMk id="3" creationId="{6E9C1BBE-039A-BA84-D215-C374AA2190AC}"/>
          </ac:spMkLst>
        </pc:spChg>
      </pc:sldChg>
      <pc:sldChg chg="modSp add mod ord">
        <pc:chgData name="Barhate, Harsha" userId="326066ed-576f-48ef-b2a4-be1b12f752c5" providerId="ADAL" clId="{83775A73-7781-47DE-9664-FD9E42478D68}" dt="2026-07-06T05:23:32.180" v="6071" actId="20577"/>
        <pc:sldMkLst>
          <pc:docMk/>
          <pc:sldMk cId="1517928161" sldId="301"/>
        </pc:sldMkLst>
        <pc:spChg chg="mod">
          <ac:chgData name="Barhate, Harsha" userId="326066ed-576f-48ef-b2a4-be1b12f752c5" providerId="ADAL" clId="{83775A73-7781-47DE-9664-FD9E42478D68}" dt="2026-07-06T05:23:32.180" v="6071" actId="20577"/>
          <ac:spMkLst>
            <pc:docMk/>
            <pc:sldMk cId="1517928161" sldId="301"/>
            <ac:spMk id="2" creationId="{EE5DE6B0-F136-0608-54E7-A3A0886A8BC3}"/>
          </ac:spMkLst>
        </pc:spChg>
        <pc:spChg chg="mod">
          <ac:chgData name="Barhate, Harsha" userId="326066ed-576f-48ef-b2a4-be1b12f752c5" providerId="ADAL" clId="{83775A73-7781-47DE-9664-FD9E42478D68}" dt="2026-07-06T05:20:56.073" v="6050" actId="27636"/>
          <ac:spMkLst>
            <pc:docMk/>
            <pc:sldMk cId="1517928161" sldId="301"/>
            <ac:spMk id="3" creationId="{CA594CFC-7797-85BA-C760-295E31C06D7C}"/>
          </ac:spMkLst>
        </pc:spChg>
      </pc:sldChg>
      <pc:sldChg chg="addSp modSp add mod">
        <pc:chgData name="Barhate, Harsha" userId="326066ed-576f-48ef-b2a4-be1b12f752c5" providerId="ADAL" clId="{83775A73-7781-47DE-9664-FD9E42478D68}" dt="2026-07-06T05:40:23.582" v="6298" actId="6549"/>
        <pc:sldMkLst>
          <pc:docMk/>
          <pc:sldMk cId="1452276894" sldId="302"/>
        </pc:sldMkLst>
        <pc:spChg chg="mod">
          <ac:chgData name="Barhate, Harsha" userId="326066ed-576f-48ef-b2a4-be1b12f752c5" providerId="ADAL" clId="{83775A73-7781-47DE-9664-FD9E42478D68}" dt="2026-07-06T05:40:23.582" v="6298" actId="6549"/>
          <ac:spMkLst>
            <pc:docMk/>
            <pc:sldMk cId="1452276894" sldId="302"/>
            <ac:spMk id="2" creationId="{15A86096-90C6-F2BB-36C8-867078C61614}"/>
          </ac:spMkLst>
        </pc:spChg>
        <pc:spChg chg="mod">
          <ac:chgData name="Barhate, Harsha" userId="326066ed-576f-48ef-b2a4-be1b12f752c5" providerId="ADAL" clId="{83775A73-7781-47DE-9664-FD9E42478D68}" dt="2026-07-06T05:40:03.130" v="6295"/>
          <ac:spMkLst>
            <pc:docMk/>
            <pc:sldMk cId="1452276894" sldId="302"/>
            <ac:spMk id="3" creationId="{85FD39A6-0999-CD8A-D361-8687B914B37B}"/>
          </ac:spMkLst>
        </pc:spChg>
      </pc:sldChg>
      <pc:sldChg chg="addSp modSp add mod">
        <pc:chgData name="Barhate, Harsha" userId="326066ed-576f-48ef-b2a4-be1b12f752c5" providerId="ADAL" clId="{83775A73-7781-47DE-9664-FD9E42478D68}" dt="2026-07-06T06:03:55.874" v="6603" actId="108"/>
        <pc:sldMkLst>
          <pc:docMk/>
          <pc:sldMk cId="1780878783" sldId="303"/>
        </pc:sldMkLst>
        <pc:spChg chg="mod">
          <ac:chgData name="Barhate, Harsha" userId="326066ed-576f-48ef-b2a4-be1b12f752c5" providerId="ADAL" clId="{83775A73-7781-47DE-9664-FD9E42478D68}" dt="2026-07-06T05:59:09.694" v="6569" actId="20577"/>
          <ac:spMkLst>
            <pc:docMk/>
            <pc:sldMk cId="1780878783" sldId="303"/>
            <ac:spMk id="2" creationId="{4AA9868C-2729-0395-B824-BC6CFFA933E2}"/>
          </ac:spMkLst>
        </pc:spChg>
        <pc:spChg chg="mod">
          <ac:chgData name="Barhate, Harsha" userId="326066ed-576f-48ef-b2a4-be1b12f752c5" providerId="ADAL" clId="{83775A73-7781-47DE-9664-FD9E42478D68}" dt="2026-07-06T06:03:55.874" v="6603" actId="108"/>
          <ac:spMkLst>
            <pc:docMk/>
            <pc:sldMk cId="1780878783" sldId="303"/>
            <ac:spMk id="3" creationId="{A77DE147-B5F4-2ACB-66CD-729284B284B2}"/>
          </ac:spMkLst>
        </pc:spChg>
      </pc:sldChg>
      <pc:sldChg chg="modSp add mod">
        <pc:chgData name="Barhate, Harsha" userId="326066ed-576f-48ef-b2a4-be1b12f752c5" providerId="ADAL" clId="{83775A73-7781-47DE-9664-FD9E42478D68}" dt="2026-07-06T05:53:25.002" v="6489"/>
        <pc:sldMkLst>
          <pc:docMk/>
          <pc:sldMk cId="1692516225" sldId="304"/>
        </pc:sldMkLst>
        <pc:spChg chg="mod">
          <ac:chgData name="Barhate, Harsha" userId="326066ed-576f-48ef-b2a4-be1b12f752c5" providerId="ADAL" clId="{83775A73-7781-47DE-9664-FD9E42478D68}" dt="2026-07-06T05:49:53.129" v="6466"/>
          <ac:spMkLst>
            <pc:docMk/>
            <pc:sldMk cId="1692516225" sldId="304"/>
            <ac:spMk id="2" creationId="{B03F8DA3-E367-CFBA-BCA5-54E746A3A099}"/>
          </ac:spMkLst>
        </pc:spChg>
        <pc:spChg chg="mod">
          <ac:chgData name="Barhate, Harsha" userId="326066ed-576f-48ef-b2a4-be1b12f752c5" providerId="ADAL" clId="{83775A73-7781-47DE-9664-FD9E42478D68}" dt="2026-07-06T05:53:25.002" v="6489"/>
          <ac:spMkLst>
            <pc:docMk/>
            <pc:sldMk cId="1692516225" sldId="304"/>
            <ac:spMk id="3" creationId="{5C153FEC-577A-2206-DBD3-F2F92DAD5746}"/>
          </ac:spMkLst>
        </pc:spChg>
      </pc:sldChg>
      <pc:sldChg chg="modSp add mod">
        <pc:chgData name="Barhate, Harsha" userId="326066ed-576f-48ef-b2a4-be1b12f752c5" providerId="ADAL" clId="{83775A73-7781-47DE-9664-FD9E42478D68}" dt="2026-07-10T10:31:42.445" v="6675" actId="20577"/>
        <pc:sldMkLst>
          <pc:docMk/>
          <pc:sldMk cId="737172085" sldId="305"/>
        </pc:sldMkLst>
        <pc:spChg chg="mod">
          <ac:chgData name="Barhate, Harsha" userId="326066ed-576f-48ef-b2a4-be1b12f752c5" providerId="ADAL" clId="{83775A73-7781-47DE-9664-FD9E42478D68}" dt="2026-07-06T06:05:33.553" v="6608" actId="108"/>
          <ac:spMkLst>
            <pc:docMk/>
            <pc:sldMk cId="737172085" sldId="305"/>
            <ac:spMk id="2" creationId="{E2A57892-923E-1330-678F-2B9A836817F0}"/>
          </ac:spMkLst>
        </pc:spChg>
        <pc:spChg chg="mod">
          <ac:chgData name="Barhate, Harsha" userId="326066ed-576f-48ef-b2a4-be1b12f752c5" providerId="ADAL" clId="{83775A73-7781-47DE-9664-FD9E42478D68}" dt="2026-07-10T10:31:42.445" v="6675" actId="20577"/>
          <ac:spMkLst>
            <pc:docMk/>
            <pc:sldMk cId="737172085" sldId="305"/>
            <ac:spMk id="3" creationId="{61ABAC69-088D-3C81-C79F-2FEEFD5FBCA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43728-1823-935D-017A-F94F4CF9C5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DDF30EE-9FF9-DCA2-C459-2AA9085E0B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A169A54-61CD-2F36-CC94-6402B87C6130}"/>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E11CCEE0-EDA7-51D7-32E8-35F37BDAAFD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2FABB9-1D3A-1D04-44A4-94E46EBF8ED2}"/>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230425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ED75-096C-D268-626E-199396E70C4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C553A13-006D-B92F-6363-01388163B6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BAD04AB-DAC5-7453-64A6-E8FC88ADD44B}"/>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332869E4-E94E-3B23-EAA2-EC517BAC367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F0100E1-4808-8C93-5497-7D93CE974F97}"/>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1427978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17FA-A6B6-4651-6567-283EBE6B3F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7ED3E-15DF-AEC2-55BB-D263D8614A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CB2E01-53EA-85AE-2E4D-11AD57EC9B53}"/>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2C2EDB0C-B9BD-D2AB-123A-44AE9A6A99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BB2A7C4-F22A-18D0-8228-5EE8C21E9B69}"/>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1369915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B034-EC33-5E9D-05CC-D875DA658E2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6DC0CB6-4108-34ED-52C2-909F50681D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151D534-20D7-E4FE-AD3D-E1AFDE4D9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A303D93-51EB-C73D-9E03-8572DB95D9AB}"/>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6" name="Footer Placeholder 5">
            <a:extLst>
              <a:ext uri="{FF2B5EF4-FFF2-40B4-BE49-F238E27FC236}">
                <a16:creationId xmlns:a16="http://schemas.microsoft.com/office/drawing/2014/main" id="{E37F7696-DDC5-C92E-9B14-0300F249D3A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AE4A999-4B24-E8B1-93AE-0F90A7ABDD1F}"/>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2449575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7ED0-73AE-6739-C514-1EA2704997D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C5C7F8A-BD5A-1F25-C659-F4E212305A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BDACF1-B833-B983-1D1E-FCCE6411D3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1C1FD1E-A1C3-DF1B-39D9-FB5FE7632F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B31CCE-27B6-4770-08E9-13BF794702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92EC419-A41F-92A2-39BF-CEAEA70ABE33}"/>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8" name="Footer Placeholder 7">
            <a:extLst>
              <a:ext uri="{FF2B5EF4-FFF2-40B4-BE49-F238E27FC236}">
                <a16:creationId xmlns:a16="http://schemas.microsoft.com/office/drawing/2014/main" id="{5E77A410-7ED1-801E-8035-25B7A641B5A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8A4D856-E682-CB9D-6863-232C3DA5D4E2}"/>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3124560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5011-0453-3DBB-F7A8-DEC103C9771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4372633-3645-41D1-BD7A-677B30DD0C26}"/>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4" name="Footer Placeholder 3">
            <a:extLst>
              <a:ext uri="{FF2B5EF4-FFF2-40B4-BE49-F238E27FC236}">
                <a16:creationId xmlns:a16="http://schemas.microsoft.com/office/drawing/2014/main" id="{16A2AFE3-ED4C-93ED-F3D8-0163B931176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D68C577-D8B1-3EA6-6654-1C74D06829A9}"/>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227421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5B66AD-18D7-F478-E1F8-AA666BB0FCF2}"/>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3" name="Footer Placeholder 2">
            <a:extLst>
              <a:ext uri="{FF2B5EF4-FFF2-40B4-BE49-F238E27FC236}">
                <a16:creationId xmlns:a16="http://schemas.microsoft.com/office/drawing/2014/main" id="{675C9F2E-47AB-7900-A01F-70BA85DAD5C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ED623FF-120C-B8B0-06C1-17391D3FE5A9}"/>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3947967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D025B-73DF-D601-EDFB-77688779B7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84BF072-68DF-1AE7-77AE-8CC60227B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AF52124-51A0-3AEC-E35A-9D78C2548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3B1132-17CD-5763-724B-5C248F0B6646}"/>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6" name="Footer Placeholder 5">
            <a:extLst>
              <a:ext uri="{FF2B5EF4-FFF2-40B4-BE49-F238E27FC236}">
                <a16:creationId xmlns:a16="http://schemas.microsoft.com/office/drawing/2014/main" id="{8F6861C7-CC30-3F76-A510-AFAEC5E0299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6CE8C88-1067-F773-3597-BA0D6EDAD091}"/>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3664212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B8665-5E97-BB45-34A5-7C6239D89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9A3F2F7-851B-0BA5-2837-848B7D6017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7F668BB-E034-5BBB-6EF1-16F60BFFA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13C0F7-30AD-5442-B898-F8E1B7BF03EB}"/>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6" name="Footer Placeholder 5">
            <a:extLst>
              <a:ext uri="{FF2B5EF4-FFF2-40B4-BE49-F238E27FC236}">
                <a16:creationId xmlns:a16="http://schemas.microsoft.com/office/drawing/2014/main" id="{5480C380-9A23-4C9E-6E98-5FA22C244C3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F41B6AC-D249-A2BD-9530-04C064E426D4}"/>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199684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F161-707F-AEE2-1672-B4F42D2D8C6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0A89F25-764D-08B1-D2A6-7E9157A360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AC53D04-C24C-AD31-311A-3574CB8509C4}"/>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4F35C897-C819-A7B1-DD2B-9E191F3E016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F37A53-F935-9C50-BAE4-05C22D2E000D}"/>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286785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AE762-2882-E42A-4AB0-3B50F351C9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994E4CA-B772-E36B-AD74-BD480FB8F0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5597B5E-7ADB-A852-2E88-11D2CC706F2C}"/>
              </a:ext>
            </a:extLst>
          </p:cNvPr>
          <p:cNvSpPr>
            <a:spLocks noGrp="1"/>
          </p:cNvSpPr>
          <p:nvPr>
            <p:ph type="dt" sz="half" idx="10"/>
          </p:nvPr>
        </p:nvSpPr>
        <p:spPr/>
        <p:txBody>
          <a:body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B44E0517-9456-C158-3500-916F5788CFA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5DF8C30-48B8-7E76-88B1-AE40A9D54D91}"/>
              </a:ext>
            </a:extLst>
          </p:cNvPr>
          <p:cNvSpPr>
            <a:spLocks noGrp="1"/>
          </p:cNvSpPr>
          <p:nvPr>
            <p:ph type="sldNum" sz="quarter" idx="12"/>
          </p:nvPr>
        </p:nvSpPr>
        <p:spPr/>
        <p:txBody>
          <a:bodyPr/>
          <a:lstStyle/>
          <a:p>
            <a:fld id="{E04B50F6-7FDC-487B-AD93-72265103828B}" type="slidenum">
              <a:rPr lang="en-AU" smtClean="0"/>
              <a:t>‹#›</a:t>
            </a:fld>
            <a:endParaRPr lang="en-AU"/>
          </a:p>
        </p:txBody>
      </p:sp>
    </p:spTree>
    <p:extLst>
      <p:ext uri="{BB962C8B-B14F-4D97-AF65-F5344CB8AC3E}">
        <p14:creationId xmlns:p14="http://schemas.microsoft.com/office/powerpoint/2010/main" val="4195346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7632EC-0EC5-F35B-CD62-22F99B0157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91F67-D13D-6E5A-5058-CDAF875639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72A6953-7082-50CB-B669-9D6C1DF00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9A29EC-BDBC-49AD-9C25-DAF4D5F44A8D}" type="datetimeFigureOut">
              <a:rPr lang="en-AU" smtClean="0"/>
              <a:t>10/07/2026</a:t>
            </a:fld>
            <a:endParaRPr lang="en-AU"/>
          </a:p>
        </p:txBody>
      </p:sp>
      <p:sp>
        <p:nvSpPr>
          <p:cNvPr id="5" name="Footer Placeholder 4">
            <a:extLst>
              <a:ext uri="{FF2B5EF4-FFF2-40B4-BE49-F238E27FC236}">
                <a16:creationId xmlns:a16="http://schemas.microsoft.com/office/drawing/2014/main" id="{1EB3E2A9-B60B-2AEC-EE88-71933CB21F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C6A7FE8-445E-5257-0BF7-44BCF11BB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4B50F6-7FDC-487B-AD93-72265103828B}" type="slidenum">
              <a:rPr lang="en-AU" smtClean="0"/>
              <a:t>‹#›</a:t>
            </a:fld>
            <a:endParaRPr lang="en-AU"/>
          </a:p>
        </p:txBody>
      </p:sp>
    </p:spTree>
    <p:extLst>
      <p:ext uri="{BB962C8B-B14F-4D97-AF65-F5344CB8AC3E}">
        <p14:creationId xmlns:p14="http://schemas.microsoft.com/office/powerpoint/2010/main" val="2351396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B7A9-D0E6-0648-0BA3-E67E927A3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AC3C2-DEDB-4314-7F01-09FA699C7124}"/>
              </a:ext>
            </a:extLst>
          </p:cNvPr>
          <p:cNvSpPr>
            <a:spLocks noGrp="1"/>
          </p:cNvSpPr>
          <p:nvPr>
            <p:ph type="ctrTitle"/>
          </p:nvPr>
        </p:nvSpPr>
        <p:spPr>
          <a:xfrm>
            <a:off x="1524000" y="1122363"/>
            <a:ext cx="9144000" cy="587565"/>
          </a:xfrm>
        </p:spPr>
        <p:txBody>
          <a:bodyPr>
            <a:normAutofit/>
          </a:bodyPr>
          <a:lstStyle/>
          <a:p>
            <a:r>
              <a:rPr lang="en-AU" sz="3200" dirty="0"/>
              <a:t>HYB Consulting – About Us</a:t>
            </a:r>
          </a:p>
        </p:txBody>
      </p:sp>
      <p:sp>
        <p:nvSpPr>
          <p:cNvPr id="3" name="Subtitle 2">
            <a:extLst>
              <a:ext uri="{FF2B5EF4-FFF2-40B4-BE49-F238E27FC236}">
                <a16:creationId xmlns:a16="http://schemas.microsoft.com/office/drawing/2014/main" id="{40CC6D8A-8FB8-F878-2623-11A9731375A3}"/>
              </a:ext>
            </a:extLst>
          </p:cNvPr>
          <p:cNvSpPr>
            <a:spLocks noGrp="1"/>
          </p:cNvSpPr>
          <p:nvPr>
            <p:ph type="subTitle" idx="1"/>
          </p:nvPr>
        </p:nvSpPr>
        <p:spPr>
          <a:xfrm>
            <a:off x="1524000" y="2331021"/>
            <a:ext cx="9144000" cy="3404615"/>
          </a:xfrm>
        </p:spPr>
        <p:txBody>
          <a:bodyPr>
            <a:normAutofit fontScale="92500" lnSpcReduction="10000"/>
          </a:bodyPr>
          <a:lstStyle/>
          <a:p>
            <a:pPr marL="285750" indent="-285750" algn="l">
              <a:buFont typeface="Arial" panose="020B0604020202020204" pitchFamily="34" charset="0"/>
              <a:buChar char="•"/>
            </a:pPr>
            <a:r>
              <a:rPr lang="en-AU" sz="1400" b="1" dirty="0">
                <a:latin typeface="Calibri" panose="020F0502020204030204" pitchFamily="34" charset="0"/>
                <a:ea typeface="Calibri" panose="020F0502020204030204" pitchFamily="34" charset="0"/>
                <a:cs typeface="Calibri" panose="020F0502020204030204" pitchFamily="34" charset="0"/>
              </a:rPr>
              <a:t>At HYB, we specialise in Quality Assurance and Testing Engineering, delivering trusted testing solutions for organisations of all sizes across Australia.</a:t>
            </a:r>
            <a:r>
              <a:rPr lang="en-AU" sz="1400" dirty="0">
                <a:latin typeface="Calibri" panose="020F0502020204030204" pitchFamily="34" charset="0"/>
                <a:ea typeface="Calibri" panose="020F0502020204030204" pitchFamily="34" charset="0"/>
                <a:cs typeface="Calibri" panose="020F0502020204030204" pitchFamily="34" charset="0"/>
              </a:rPr>
              <a:t> From small businesses to large enterprises, we help our clients deliver reliable, secure, and high-quality technology solutions with confidence.</a:t>
            </a:r>
          </a:p>
          <a:p>
            <a:pPr marL="285750" indent="-285750" algn="l">
              <a:buFont typeface="Arial" panose="020B0604020202020204" pitchFamily="34" charset="0"/>
              <a:buChar char="•"/>
            </a:pPr>
            <a:r>
              <a:rPr lang="en-AU" sz="1400" dirty="0">
                <a:latin typeface="Calibri" panose="020F0502020204030204" pitchFamily="34" charset="0"/>
                <a:ea typeface="Calibri" panose="020F0502020204030204" pitchFamily="34" charset="0"/>
                <a:cs typeface="Calibri" panose="020F0502020204030204" pitchFamily="34" charset="0"/>
              </a:rPr>
              <a:t>With deep industry expertise and a strong commitment to quality, our experienced team ensures that every stage of the software delivery lifecycle is thoroughly validated. From reviewing business requirements and solution design through to system testing, user acceptance testing, production deployment, and post-release assurance, we focus on delivering quality at every step.</a:t>
            </a:r>
          </a:p>
          <a:p>
            <a:pPr marL="285750" indent="-285750" algn="l">
              <a:buFont typeface="Arial" panose="020B0604020202020204" pitchFamily="34" charset="0"/>
              <a:buChar char="•"/>
            </a:pPr>
            <a:r>
              <a:rPr lang="en-AU" sz="1400" dirty="0">
                <a:latin typeface="Calibri" panose="020F0502020204030204" pitchFamily="34" charset="0"/>
                <a:ea typeface="Calibri" panose="020F0502020204030204" pitchFamily="34" charset="0"/>
                <a:cs typeface="Calibri" panose="020F0502020204030204" pitchFamily="34" charset="0"/>
              </a:rPr>
              <a:t>Our approach extends beyond functional testing. We provide comprehensive quality engineering services, including performance testing, security testing, accessibility validation, integration testing, test automation, governance, and compliance assurance. We also support organisations in meeting industry standards and government regulatory requirements through structured quality audits and best-practice testing frameworks.</a:t>
            </a:r>
          </a:p>
          <a:p>
            <a:pPr marL="285750" indent="-285750" algn="l">
              <a:buFont typeface="Arial" panose="020B0604020202020204" pitchFamily="34" charset="0"/>
              <a:buChar char="•"/>
            </a:pPr>
            <a:r>
              <a:rPr lang="en-AU" sz="1400" dirty="0">
                <a:latin typeface="Calibri" panose="020F0502020204030204" pitchFamily="34" charset="0"/>
                <a:ea typeface="Calibri" panose="020F0502020204030204" pitchFamily="34" charset="0"/>
                <a:cs typeface="Calibri" panose="020F0502020204030204" pitchFamily="34" charset="0"/>
              </a:rPr>
              <a:t>At HYB, quality is more than finding defects—it's about building confidence, reducing risk, and enabling successful business outcomes. We take pride in our professionalism, attention to detail, and commitment to continuous improvement, ensuring quality is embedded throughout the organisation.</a:t>
            </a:r>
          </a:p>
          <a:p>
            <a:pPr marL="285750" indent="-285750" algn="l">
              <a:buFont typeface="Arial" panose="020B0604020202020204" pitchFamily="34" charset="0"/>
              <a:buChar char="•"/>
            </a:pPr>
            <a:r>
              <a:rPr lang="en-AU" sz="1400" dirty="0">
                <a:latin typeface="Calibri" panose="020F0502020204030204" pitchFamily="34" charset="0"/>
                <a:ea typeface="Calibri" panose="020F0502020204030204" pitchFamily="34" charset="0"/>
                <a:cs typeface="Calibri" panose="020F0502020204030204" pitchFamily="34" charset="0"/>
              </a:rPr>
              <a:t>Our core values to find the solution for every problem. —</a:t>
            </a:r>
            <a:r>
              <a:rPr lang="en-AU" sz="1400" b="1" dirty="0">
                <a:latin typeface="Calibri" panose="020F0502020204030204" pitchFamily="34" charset="0"/>
                <a:ea typeface="Calibri" panose="020F0502020204030204" pitchFamily="34" charset="0"/>
                <a:cs typeface="Calibri" panose="020F0502020204030204" pitchFamily="34" charset="0"/>
              </a:rPr>
              <a:t>Respect, Communication, Trust, and Excellence</a:t>
            </a:r>
            <a:r>
              <a:rPr lang="en-AU" sz="1400" dirty="0">
                <a:latin typeface="Calibri" panose="020F0502020204030204" pitchFamily="34" charset="0"/>
                <a:ea typeface="Calibri" panose="020F0502020204030204" pitchFamily="34" charset="0"/>
                <a:cs typeface="Calibri" panose="020F0502020204030204" pitchFamily="34" charset="0"/>
              </a:rPr>
              <a:t>—are at the heart of everything we do. We believe that exceptional quality is achieved through strong partnerships, transparent collaboration, and a shared commitment to delivering outstanding results.</a:t>
            </a:r>
          </a:p>
          <a:p>
            <a:endParaRPr lang="en-AU" sz="1800" dirty="0"/>
          </a:p>
        </p:txBody>
      </p:sp>
    </p:spTree>
    <p:extLst>
      <p:ext uri="{BB962C8B-B14F-4D97-AF65-F5344CB8AC3E}">
        <p14:creationId xmlns:p14="http://schemas.microsoft.com/office/powerpoint/2010/main" val="228105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9FEB-5979-E8BB-267B-9A48877F2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8AB32-11B1-21D3-7746-ACB6E1E8D0D2}"/>
              </a:ext>
            </a:extLst>
          </p:cNvPr>
          <p:cNvSpPr>
            <a:spLocks noGrp="1"/>
          </p:cNvSpPr>
          <p:nvPr>
            <p:ph type="ctrTitle"/>
          </p:nvPr>
        </p:nvSpPr>
        <p:spPr>
          <a:xfrm>
            <a:off x="1524000" y="605005"/>
            <a:ext cx="9144000" cy="587565"/>
          </a:xfrm>
        </p:spPr>
        <p:txBody>
          <a:bodyPr>
            <a:normAutofit/>
          </a:bodyPr>
          <a:lstStyle/>
          <a:p>
            <a:r>
              <a:rPr lang="en-AU" sz="3200" dirty="0"/>
              <a:t>HYB Consulting - Services – Quality Control  </a:t>
            </a:r>
          </a:p>
        </p:txBody>
      </p:sp>
      <p:sp>
        <p:nvSpPr>
          <p:cNvPr id="3" name="Subtitle 2">
            <a:extLst>
              <a:ext uri="{FF2B5EF4-FFF2-40B4-BE49-F238E27FC236}">
                <a16:creationId xmlns:a16="http://schemas.microsoft.com/office/drawing/2014/main" id="{EC86AF18-5549-4B33-643E-0724261EE9FA}"/>
              </a:ext>
            </a:extLst>
          </p:cNvPr>
          <p:cNvSpPr>
            <a:spLocks noGrp="1"/>
          </p:cNvSpPr>
          <p:nvPr>
            <p:ph type="subTitle" idx="1"/>
          </p:nvPr>
        </p:nvSpPr>
        <p:spPr>
          <a:xfrm>
            <a:off x="1524000" y="1444403"/>
            <a:ext cx="9144000" cy="4342786"/>
          </a:xfrm>
        </p:spPr>
        <p:txBody>
          <a:bodyPr>
            <a:normAutofit lnSpcReduction="10000"/>
          </a:bodyPr>
          <a:lstStyle/>
          <a:p>
            <a:pPr algn="l"/>
            <a:r>
              <a:rPr lang="en-AU" sz="1400" dirty="0">
                <a:latin typeface="Calibri" panose="020F0502020204030204" pitchFamily="34" charset="0"/>
                <a:ea typeface="Calibri" panose="020F0502020204030204" pitchFamily="34" charset="0"/>
                <a:cs typeface="Calibri" panose="020F0502020204030204" pitchFamily="34" charset="0"/>
              </a:rPr>
              <a:t>At HYB, we provide end-to-end Quality Assurance and Quality Engineering services to help organisations deliver reliable, secure, and high-performing technology solutions.</a:t>
            </a:r>
          </a:p>
          <a:p>
            <a:pPr algn="l"/>
            <a:endParaRPr lang="en-AU" sz="1400" dirty="0">
              <a:latin typeface="Calibri" panose="020F0502020204030204" pitchFamily="34" charset="0"/>
              <a:ea typeface="Calibri" panose="020F0502020204030204" pitchFamily="34" charset="0"/>
              <a:cs typeface="Calibri" panose="020F0502020204030204" pitchFamily="34" charset="0"/>
            </a:endParaRPr>
          </a:p>
          <a:p>
            <a:pPr algn="l"/>
            <a:r>
              <a:rPr lang="en-AU" sz="1400" dirty="0">
                <a:latin typeface="Calibri" panose="020F0502020204030204" pitchFamily="34" charset="0"/>
                <a:ea typeface="Calibri" panose="020F0502020204030204" pitchFamily="34" charset="0"/>
                <a:cs typeface="Calibri" panose="020F0502020204030204" pitchFamily="34" charset="0"/>
              </a:rPr>
              <a:t>Quality Control : </a:t>
            </a:r>
          </a:p>
          <a:p>
            <a:pPr marL="171450" indent="-171450" algn="l">
              <a:buFont typeface="Arial" panose="020B0604020202020204" pitchFamily="34" charset="0"/>
              <a:buChar char="•"/>
            </a:pPr>
            <a:r>
              <a:rPr lang="en-AU" sz="1200" b="1" dirty="0"/>
              <a:t>Test Strategy &amp; Test Management</a:t>
            </a:r>
            <a:r>
              <a:rPr lang="en-AU" sz="1200" dirty="0"/>
              <a:t> – Developing comprehensive testing strategies, planning, governance, and delivery management to production and after production using AI tools.</a:t>
            </a:r>
          </a:p>
          <a:p>
            <a:pPr marL="171450" indent="-171450" algn="l">
              <a:buFont typeface="Arial" panose="020B0604020202020204" pitchFamily="34" charset="0"/>
              <a:buChar char="•"/>
            </a:pPr>
            <a:r>
              <a:rPr lang="en-AU" sz="1200" b="1" dirty="0"/>
              <a:t>Functional Testing</a:t>
            </a:r>
            <a:r>
              <a:rPr lang="en-AU" sz="1200" dirty="0"/>
              <a:t> – System Testing, UAT, Regression Testing, Sanity Testing, Smoke Testing, End-to-End Testing</a:t>
            </a:r>
          </a:p>
          <a:p>
            <a:pPr marL="171450" indent="-171450" algn="l">
              <a:buFont typeface="Arial" panose="020B0604020202020204" pitchFamily="34" charset="0"/>
              <a:buChar char="•"/>
            </a:pPr>
            <a:r>
              <a:rPr lang="en-AU" sz="1200" b="1" dirty="0"/>
              <a:t>Integration Testing</a:t>
            </a:r>
            <a:r>
              <a:rPr lang="en-AU" sz="1200" dirty="0"/>
              <a:t> – Validating complex integrations across enterprise applications, APIs, middleware, and third-party systems with Vendor.</a:t>
            </a:r>
          </a:p>
          <a:p>
            <a:pPr marL="171450" indent="-171450" algn="l">
              <a:buFont typeface="Arial" panose="020B0604020202020204" pitchFamily="34" charset="0"/>
              <a:buChar char="•"/>
            </a:pPr>
            <a:r>
              <a:rPr lang="en-AU" sz="1200" b="1" dirty="0"/>
              <a:t>Test Automation</a:t>
            </a:r>
            <a:r>
              <a:rPr lang="en-AU" sz="1200" dirty="0"/>
              <a:t> – Designing and implementing scalable automation frameworks to improve testing efficiency and accelerate delivery. Using Tools including AI implementation. </a:t>
            </a:r>
          </a:p>
          <a:p>
            <a:pPr marL="171450" indent="-171450" algn="l">
              <a:buFont typeface="Arial" panose="020B0604020202020204" pitchFamily="34" charset="0"/>
              <a:buChar char="•"/>
            </a:pPr>
            <a:r>
              <a:rPr lang="en-AU" sz="1200" b="1" dirty="0"/>
              <a:t>Performance  Testing</a:t>
            </a:r>
            <a:r>
              <a:rPr lang="en-AU" sz="1200" dirty="0"/>
              <a:t> – Assessing application performance, scalability, stability, and resilience under varying workloads.</a:t>
            </a:r>
          </a:p>
          <a:p>
            <a:pPr marL="171450" indent="-171450" algn="l">
              <a:buFont typeface="Arial" panose="020B0604020202020204" pitchFamily="34" charset="0"/>
              <a:buChar char="•"/>
            </a:pPr>
            <a:r>
              <a:rPr lang="en-AU" sz="1200" b="1" dirty="0"/>
              <a:t>Security Testing</a:t>
            </a:r>
            <a:r>
              <a:rPr lang="en-AU" sz="1200" dirty="0"/>
              <a:t> – Identifying vulnerabilities and validating applications against security best practices and compliance requirements.</a:t>
            </a:r>
          </a:p>
          <a:p>
            <a:pPr marL="171450" indent="-171450" algn="l">
              <a:buFont typeface="Arial" panose="020B0604020202020204" pitchFamily="34" charset="0"/>
              <a:buChar char="•"/>
            </a:pPr>
            <a:r>
              <a:rPr lang="en-AU" sz="1200" b="1" dirty="0"/>
              <a:t>Disaster Recovery &amp; High Availability Testing</a:t>
            </a:r>
            <a:r>
              <a:rPr lang="en-AU" sz="1200" dirty="0"/>
              <a:t> – Validating business continuity, failover capabilities, and system resilience.</a:t>
            </a:r>
          </a:p>
          <a:p>
            <a:pPr marL="171450" indent="-171450" algn="l">
              <a:buFont typeface="Arial" panose="020B0604020202020204" pitchFamily="34" charset="0"/>
              <a:buChar char="•"/>
            </a:pPr>
            <a:r>
              <a:rPr lang="en-AU" sz="1200" b="1" dirty="0"/>
              <a:t>Data Migration Testing</a:t>
            </a:r>
            <a:r>
              <a:rPr lang="en-AU" sz="1200" dirty="0"/>
              <a:t> – Validating data quality, reconciliation, integrity, and successful migration across systems.</a:t>
            </a:r>
          </a:p>
          <a:p>
            <a:pPr marL="171450" indent="-171450" algn="l">
              <a:buFont typeface="Arial" panose="020B0604020202020204" pitchFamily="34" charset="0"/>
              <a:buChar char="•"/>
            </a:pPr>
            <a:r>
              <a:rPr lang="en-AU" sz="1200" b="1" dirty="0"/>
              <a:t>Production Verification &amp; Release Assurance</a:t>
            </a:r>
            <a:r>
              <a:rPr lang="en-AU" sz="1200" dirty="0"/>
              <a:t> – Supporting production deployments, release validation, and post-implementation verification.</a:t>
            </a:r>
          </a:p>
          <a:p>
            <a:pPr algn="l"/>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297078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B3368-405F-C88B-9911-8EC392F98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D4B2E-585B-0DBE-DE06-1625E36C2863}"/>
              </a:ext>
            </a:extLst>
          </p:cNvPr>
          <p:cNvSpPr>
            <a:spLocks noGrp="1"/>
          </p:cNvSpPr>
          <p:nvPr>
            <p:ph type="ctrTitle"/>
          </p:nvPr>
        </p:nvSpPr>
        <p:spPr>
          <a:xfrm>
            <a:off x="1524000" y="1122363"/>
            <a:ext cx="9144000" cy="587565"/>
          </a:xfrm>
        </p:spPr>
        <p:txBody>
          <a:bodyPr>
            <a:normAutofit/>
          </a:bodyPr>
          <a:lstStyle/>
          <a:p>
            <a:r>
              <a:rPr lang="en-AU" sz="3200" dirty="0"/>
              <a:t>HYB Consulting - Services – Quality Assurance</a:t>
            </a:r>
          </a:p>
        </p:txBody>
      </p:sp>
      <p:sp>
        <p:nvSpPr>
          <p:cNvPr id="3" name="Subtitle 2">
            <a:extLst>
              <a:ext uri="{FF2B5EF4-FFF2-40B4-BE49-F238E27FC236}">
                <a16:creationId xmlns:a16="http://schemas.microsoft.com/office/drawing/2014/main" id="{6E9C1BBE-039A-BA84-D215-C374AA2190AC}"/>
              </a:ext>
            </a:extLst>
          </p:cNvPr>
          <p:cNvSpPr>
            <a:spLocks noGrp="1"/>
          </p:cNvSpPr>
          <p:nvPr>
            <p:ph type="subTitle" idx="1"/>
          </p:nvPr>
        </p:nvSpPr>
        <p:spPr>
          <a:xfrm>
            <a:off x="1450848" y="1855534"/>
            <a:ext cx="9144000" cy="3969194"/>
          </a:xfrm>
        </p:spPr>
        <p:txBody>
          <a:bodyPr>
            <a:normAutofit/>
          </a:bodyPr>
          <a:lstStyle/>
          <a:p>
            <a:pPr algn="l"/>
            <a:r>
              <a:rPr lang="en-AU" sz="1400" dirty="0">
                <a:latin typeface="Calibri" panose="020F0502020204030204" pitchFamily="34" charset="0"/>
                <a:ea typeface="Calibri" panose="020F0502020204030204" pitchFamily="34" charset="0"/>
                <a:cs typeface="Calibri" panose="020F0502020204030204" pitchFamily="34" charset="0"/>
              </a:rPr>
              <a:t>At HYB, We are not only providing QC services but also helping business to get the assurance of the quality and tailored to each client's business objectives, ensuring quality, compliance, and confidence from project initiation through to successful production delivery.</a:t>
            </a:r>
          </a:p>
          <a:p>
            <a:pPr algn="l"/>
            <a:endParaRPr lang="en-AU" sz="1400" dirty="0">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AU" sz="1200" b="1" dirty="0"/>
              <a:t>Quality Governance &amp; Compliance</a:t>
            </a:r>
            <a:r>
              <a:rPr lang="en-AU" sz="1200" dirty="0"/>
              <a:t> – Establishing quality frameworks, conducting audits, ensuring regulatory compliance, and supporting organisational quality maturity.</a:t>
            </a:r>
          </a:p>
          <a:p>
            <a:pPr marL="171450" indent="-171450" algn="l">
              <a:buFont typeface="Arial" panose="020B0604020202020204" pitchFamily="34" charset="0"/>
              <a:buChar char="•"/>
            </a:pPr>
            <a:r>
              <a:rPr lang="en-AU" sz="1200" b="1" dirty="0"/>
              <a:t>Accessibility Testing and audits </a:t>
            </a:r>
            <a:r>
              <a:rPr lang="en-AU" sz="1200" dirty="0"/>
              <a:t>– Ensuring digital solutions comply with accessibility standards, including WCAG and government requirements.</a:t>
            </a:r>
          </a:p>
          <a:p>
            <a:pPr marL="171450" indent="-171450" algn="l">
              <a:buFont typeface="Arial" panose="020B0604020202020204" pitchFamily="34" charset="0"/>
              <a:buChar char="•"/>
            </a:pPr>
            <a:r>
              <a:rPr lang="en-AU" sz="1200" b="1" dirty="0"/>
              <a:t>Defect Management &amp; Root Cause Analysis</a:t>
            </a:r>
            <a:r>
              <a:rPr lang="en-AU" sz="1200" dirty="0"/>
              <a:t> – Managing defect lifecycles, identifying root causes, and driving continuous quality improvements.</a:t>
            </a:r>
          </a:p>
          <a:p>
            <a:pPr marL="171450" indent="-171450" algn="l">
              <a:buFont typeface="Arial" panose="020B0604020202020204" pitchFamily="34" charset="0"/>
              <a:buChar char="•"/>
            </a:pPr>
            <a:r>
              <a:rPr lang="en-AU" sz="1200" b="1" dirty="0"/>
              <a:t>Test Advisory &amp; Consulting</a:t>
            </a:r>
            <a:r>
              <a:rPr lang="en-AU" sz="1200" dirty="0"/>
              <a:t> – Providing expert guidance on QA transformation, testing best practices, process optimisation, and quality engineering.</a:t>
            </a:r>
          </a:p>
          <a:p>
            <a:pPr marL="171450" indent="-171450" algn="l">
              <a:buFont typeface="Arial" panose="020B0604020202020204" pitchFamily="34" charset="0"/>
              <a:buChar char="•"/>
            </a:pPr>
            <a:r>
              <a:rPr lang="en-AU" sz="1200" b="1" dirty="0"/>
              <a:t>Managed Testing Services</a:t>
            </a:r>
            <a:r>
              <a:rPr lang="en-AU" sz="1200" dirty="0"/>
              <a:t> – Providing dedicated testing teams and QA specialists to support project delivery across the entire software development lifecycle.</a:t>
            </a:r>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2631925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6B91D-FA99-50B6-AEDF-3D4B3C072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DE6B0-F136-0608-54E7-A3A0886A8BC3}"/>
              </a:ext>
            </a:extLst>
          </p:cNvPr>
          <p:cNvSpPr>
            <a:spLocks noGrp="1"/>
          </p:cNvSpPr>
          <p:nvPr>
            <p:ph type="ctrTitle"/>
          </p:nvPr>
        </p:nvSpPr>
        <p:spPr>
          <a:xfrm>
            <a:off x="1524000" y="1122363"/>
            <a:ext cx="9144000" cy="587565"/>
          </a:xfrm>
        </p:spPr>
        <p:txBody>
          <a:bodyPr>
            <a:normAutofit/>
          </a:bodyPr>
          <a:lstStyle/>
          <a:p>
            <a:r>
              <a:rPr lang="en-AU" sz="3200" dirty="0"/>
              <a:t>HYB Consulting – How We Work ?</a:t>
            </a:r>
          </a:p>
        </p:txBody>
      </p:sp>
      <p:sp>
        <p:nvSpPr>
          <p:cNvPr id="3" name="Subtitle 2">
            <a:extLst>
              <a:ext uri="{FF2B5EF4-FFF2-40B4-BE49-F238E27FC236}">
                <a16:creationId xmlns:a16="http://schemas.microsoft.com/office/drawing/2014/main" id="{CA594CFC-7797-85BA-C760-295E31C06D7C}"/>
              </a:ext>
            </a:extLst>
          </p:cNvPr>
          <p:cNvSpPr>
            <a:spLocks noGrp="1"/>
          </p:cNvSpPr>
          <p:nvPr>
            <p:ph type="subTitle" idx="1"/>
          </p:nvPr>
        </p:nvSpPr>
        <p:spPr>
          <a:xfrm>
            <a:off x="1450848" y="1855534"/>
            <a:ext cx="9144000" cy="3969194"/>
          </a:xfrm>
        </p:spPr>
        <p:txBody>
          <a:bodyPr>
            <a:normAutofit/>
          </a:bodyPr>
          <a:lstStyle/>
          <a:p>
            <a:pPr algn="l"/>
            <a:r>
              <a:rPr lang="en-AU" sz="1400" dirty="0"/>
              <a:t>At HYB, we believe that quality is built into every stage of the project—not just tested at the end. Our collaborative, risk-based approach ensures that quality is embedded throughout the entire software delivery lifecycle.</a:t>
            </a:r>
          </a:p>
          <a:p>
            <a:pPr algn="l"/>
            <a:endParaRPr lang="en-AU" sz="1400" b="1" dirty="0"/>
          </a:p>
          <a:p>
            <a:pPr marL="171450" indent="-171450" algn="l">
              <a:buFont typeface="Arial" panose="020B0604020202020204" pitchFamily="34" charset="0"/>
              <a:buChar char="•"/>
            </a:pPr>
            <a:r>
              <a:rPr lang="en-AU" sz="1200" b="1" dirty="0"/>
              <a:t>Discover &amp; Understand - </a:t>
            </a:r>
            <a:r>
              <a:rPr lang="en-AU" sz="1200" dirty="0"/>
              <a:t>We begin by understanding your business objectives, project scope, technical landscape, and compliance requirements. This enables us to identify risks early and define a tailored quality strategy</a:t>
            </a:r>
          </a:p>
          <a:p>
            <a:pPr marL="171450" indent="-171450" algn="l">
              <a:buFont typeface="Arial" panose="020B0604020202020204" pitchFamily="34" charset="0"/>
              <a:buChar char="•"/>
            </a:pPr>
            <a:r>
              <a:rPr lang="en-AU" sz="1200" b="1" dirty="0"/>
              <a:t>Plan &amp; Design - </a:t>
            </a:r>
            <a:r>
              <a:rPr lang="en-AU" sz="1200" dirty="0"/>
              <a:t>Our team develops a comprehensive testing roadmap with matrix structure including quality gates across the program/projects which define correct approach, including test strategy, planning, resource allocation, environments, test data, automation opportunities, and quality governance to ensure efficient delivery</a:t>
            </a:r>
          </a:p>
          <a:p>
            <a:pPr marL="171450" indent="-171450" algn="l">
              <a:buFont typeface="Arial" panose="020B0604020202020204" pitchFamily="34" charset="0"/>
              <a:buChar char="•"/>
            </a:pPr>
            <a:r>
              <a:rPr lang="en-AU" sz="1200" b="1" dirty="0"/>
              <a:t>Execute with Excellence - </a:t>
            </a:r>
            <a:r>
              <a:rPr lang="en-AU" sz="1200" dirty="0"/>
              <a:t>We perform comprehensive testing across quality control and quality assurance standards.  Every test is executed using industry best practices and proven quality engineering methodologies.</a:t>
            </a:r>
          </a:p>
          <a:p>
            <a:pPr marL="171450" indent="-171450" algn="l">
              <a:buFont typeface="Arial" panose="020B0604020202020204" pitchFamily="34" charset="0"/>
              <a:buChar char="•"/>
            </a:pPr>
            <a:r>
              <a:rPr lang="en-AU" sz="1200" b="1" dirty="0"/>
              <a:t>Monitor &amp; Improve - </a:t>
            </a:r>
            <a:r>
              <a:rPr lang="en-AU" sz="1200" dirty="0"/>
              <a:t>Quality is continuously monitored through metrics, defect analysis, reporting, and stakeholder communication. We identify improvement opportunities and provide actionable recommendations to reduce risks and improve delivery outcomes.</a:t>
            </a:r>
          </a:p>
          <a:p>
            <a:pPr marL="171450" indent="-171450" algn="l">
              <a:buFont typeface="Arial" panose="020B0604020202020204" pitchFamily="34" charset="0"/>
              <a:buChar char="•"/>
            </a:pPr>
            <a:r>
              <a:rPr lang="en-AU" sz="1200" b="1" dirty="0"/>
              <a:t>Validate &amp; Release - </a:t>
            </a:r>
            <a:r>
              <a:rPr lang="en-AU" sz="1200" dirty="0"/>
              <a:t>Before production deployment, we ensure all quality gates have been met through release readiness assessments, production validation, and post-deployment verification, giving stakeholders confidence in every release.</a:t>
            </a:r>
          </a:p>
          <a:p>
            <a:pPr marL="171450" indent="-171450" algn="l">
              <a:buFont typeface="Arial" panose="020B0604020202020204" pitchFamily="34" charset="0"/>
              <a:buChar char="•"/>
            </a:pPr>
            <a:r>
              <a:rPr lang="en-AU" sz="1200" b="1" dirty="0"/>
              <a:t>Support Continuous Quality - </a:t>
            </a:r>
            <a:r>
              <a:rPr lang="en-AU" sz="1200" dirty="0"/>
              <a:t>Our commitment doesn't end at go-live. We support continuous improvement through quality audits, process optimisation, lessons learned, and ongoing quality assurance to help organisations mature their testing capabilities.</a:t>
            </a:r>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151792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9CF3-DA9A-D571-5675-B1F083A72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86096-90C6-F2BB-36C8-867078C61614}"/>
              </a:ext>
            </a:extLst>
          </p:cNvPr>
          <p:cNvSpPr>
            <a:spLocks noGrp="1"/>
          </p:cNvSpPr>
          <p:nvPr>
            <p:ph type="ctrTitle"/>
          </p:nvPr>
        </p:nvSpPr>
        <p:spPr>
          <a:xfrm>
            <a:off x="1524000" y="1122363"/>
            <a:ext cx="9144000" cy="587565"/>
          </a:xfrm>
        </p:spPr>
        <p:txBody>
          <a:bodyPr>
            <a:normAutofit/>
          </a:bodyPr>
          <a:lstStyle/>
          <a:p>
            <a:r>
              <a:rPr lang="en-AU" sz="3200" dirty="0"/>
              <a:t>HYB Consulting – Our Engagement Model </a:t>
            </a:r>
          </a:p>
        </p:txBody>
      </p:sp>
      <p:sp>
        <p:nvSpPr>
          <p:cNvPr id="3" name="Subtitle 2">
            <a:extLst>
              <a:ext uri="{FF2B5EF4-FFF2-40B4-BE49-F238E27FC236}">
                <a16:creationId xmlns:a16="http://schemas.microsoft.com/office/drawing/2014/main" id="{85FD39A6-0999-CD8A-D361-8687B914B37B}"/>
              </a:ext>
            </a:extLst>
          </p:cNvPr>
          <p:cNvSpPr>
            <a:spLocks noGrp="1"/>
          </p:cNvSpPr>
          <p:nvPr>
            <p:ph type="subTitle" idx="1"/>
          </p:nvPr>
        </p:nvSpPr>
        <p:spPr>
          <a:xfrm>
            <a:off x="1450848" y="1855534"/>
            <a:ext cx="9144000" cy="3969194"/>
          </a:xfrm>
        </p:spPr>
        <p:txBody>
          <a:bodyPr>
            <a:normAutofit/>
          </a:bodyPr>
          <a:lstStyle/>
          <a:p>
            <a:pPr algn="l"/>
            <a:r>
              <a:rPr lang="en-AU" sz="1400" dirty="0"/>
              <a:t>You can engage HYB work as an extension of your team, offering flexible engagement models—from specialised consulting and short-term project support to fully managed Quality Engineering and Testing services—tailored to your business objectives, delivery model, and organisational needs.</a:t>
            </a:r>
          </a:p>
          <a:p>
            <a:pPr marL="171450" indent="-171450" algn="l">
              <a:buFont typeface="Arial" panose="020B0604020202020204" pitchFamily="34" charset="0"/>
              <a:buChar char="•"/>
            </a:pPr>
            <a:r>
              <a:rPr lang="en-AU" sz="1200" b="1" dirty="0"/>
              <a:t>New Projects</a:t>
            </a:r>
            <a:r>
              <a:rPr lang="en-AU" sz="1200" dirty="0"/>
              <a:t> – Establishing quality strategies and testing frameworks from project inception.</a:t>
            </a:r>
          </a:p>
          <a:p>
            <a:pPr marL="171450" indent="-171450" algn="l">
              <a:buFont typeface="Arial" panose="020B0604020202020204" pitchFamily="34" charset="0"/>
              <a:buChar char="•"/>
            </a:pPr>
            <a:r>
              <a:rPr lang="en-AU" sz="1200" b="1" dirty="0"/>
              <a:t>Digital Transformation Programs</a:t>
            </a:r>
            <a:r>
              <a:rPr lang="en-AU" sz="1200" dirty="0"/>
              <a:t> – Supporting large-scale transformation initiatives with end-to-end quality assurance.</a:t>
            </a:r>
          </a:p>
          <a:p>
            <a:pPr marL="171450" indent="-171450" algn="l">
              <a:buFont typeface="Arial" panose="020B0604020202020204" pitchFamily="34" charset="0"/>
              <a:buChar char="•"/>
            </a:pPr>
            <a:r>
              <a:rPr lang="en-AU" sz="1200" b="1" dirty="0"/>
              <a:t>System Enhancements &amp; Change Requests</a:t>
            </a:r>
            <a:r>
              <a:rPr lang="en-AU" sz="1200" dirty="0"/>
              <a:t> – Validating new features, enhancements, and ongoing system improvements</a:t>
            </a:r>
          </a:p>
          <a:p>
            <a:pPr marL="171450" indent="-171450" algn="l">
              <a:buFont typeface="Arial" panose="020B0604020202020204" pitchFamily="34" charset="0"/>
              <a:buChar char="•"/>
            </a:pPr>
            <a:r>
              <a:rPr lang="en-AU" sz="1200" b="1" dirty="0"/>
              <a:t>Data Migration Projects</a:t>
            </a:r>
            <a:r>
              <a:rPr lang="en-AU" sz="1200" dirty="0"/>
              <a:t> – Ensuring data integrity, reconciliation, and successful migration outcomes</a:t>
            </a:r>
          </a:p>
          <a:p>
            <a:pPr marL="171450" indent="-171450" algn="l">
              <a:buFont typeface="Arial" panose="020B0604020202020204" pitchFamily="34" charset="0"/>
              <a:buChar char="•"/>
            </a:pPr>
            <a:r>
              <a:rPr lang="en-AU" sz="1200" b="1" dirty="0"/>
              <a:t>Legacy System Modernisation</a:t>
            </a:r>
            <a:r>
              <a:rPr lang="en-AU" sz="1200" dirty="0"/>
              <a:t> – Reducing risk while transitioning from legacy platforms to modern solutions.</a:t>
            </a:r>
          </a:p>
          <a:p>
            <a:pPr marL="171450" indent="-171450" algn="l">
              <a:buFont typeface="Arial" panose="020B0604020202020204" pitchFamily="34" charset="0"/>
              <a:buChar char="•"/>
            </a:pPr>
            <a:r>
              <a:rPr lang="en-AU" sz="1200" b="1" dirty="0"/>
              <a:t>Application Upgrades &amp; Releases</a:t>
            </a:r>
            <a:r>
              <a:rPr lang="en-AU" sz="1200" dirty="0"/>
              <a:t> – Providing comprehensive testing and release assurance for upgrades and deployments.</a:t>
            </a:r>
          </a:p>
          <a:p>
            <a:pPr marL="171450" indent="-171450" algn="l">
              <a:buFont typeface="Arial" panose="020B0604020202020204" pitchFamily="34" charset="0"/>
              <a:buChar char="•"/>
            </a:pPr>
            <a:r>
              <a:rPr lang="en-AU" sz="1200" b="1" dirty="0"/>
              <a:t>Production Readiness &amp; Go-Live Support</a:t>
            </a:r>
            <a:r>
              <a:rPr lang="en-AU" sz="1200" dirty="0"/>
              <a:t> – Validating release readiness and supporting successful production deployments.</a:t>
            </a:r>
          </a:p>
          <a:p>
            <a:pPr marL="171450" indent="-171450" algn="l">
              <a:buFont typeface="Arial" panose="020B0604020202020204" pitchFamily="34" charset="0"/>
              <a:buChar char="•"/>
            </a:pPr>
            <a:r>
              <a:rPr lang="en-AU" sz="1200" b="1" dirty="0"/>
              <a:t>Managed Quality Engineering Services</a:t>
            </a:r>
            <a:r>
              <a:rPr lang="en-AU" sz="1200" dirty="0"/>
              <a:t> – Delivering dedicated QA resources or fully managed testing services tailored to your business needs.</a:t>
            </a:r>
          </a:p>
          <a:p>
            <a:pPr marL="171450" indent="-171450" algn="l">
              <a:buFont typeface="Arial" panose="020B0604020202020204" pitchFamily="34" charset="0"/>
              <a:buChar char="•"/>
            </a:pPr>
            <a:r>
              <a:rPr lang="en-AU" sz="1200" b="1" dirty="0"/>
              <a:t>Quality Audits &amp; Compliance</a:t>
            </a:r>
            <a:r>
              <a:rPr lang="en-AU" sz="1200" dirty="0"/>
              <a:t> – Assessing testing maturity, governance, and compliance with industry and regulatory standards.</a:t>
            </a:r>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1452276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02518-E288-181D-073E-2EF1664D4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9868C-2729-0395-B824-BC6CFFA933E2}"/>
              </a:ext>
            </a:extLst>
          </p:cNvPr>
          <p:cNvSpPr>
            <a:spLocks noGrp="1"/>
          </p:cNvSpPr>
          <p:nvPr>
            <p:ph type="ctrTitle"/>
          </p:nvPr>
        </p:nvSpPr>
        <p:spPr>
          <a:xfrm>
            <a:off x="1524000" y="1122363"/>
            <a:ext cx="9144000" cy="587565"/>
          </a:xfrm>
        </p:spPr>
        <p:txBody>
          <a:bodyPr>
            <a:normAutofit/>
          </a:bodyPr>
          <a:lstStyle/>
          <a:p>
            <a:r>
              <a:rPr lang="en-AU" sz="3200" dirty="0"/>
              <a:t>HYB Consulting – Why Engage With HYB?</a:t>
            </a:r>
          </a:p>
        </p:txBody>
      </p:sp>
      <p:sp>
        <p:nvSpPr>
          <p:cNvPr id="3" name="Subtitle 2">
            <a:extLst>
              <a:ext uri="{FF2B5EF4-FFF2-40B4-BE49-F238E27FC236}">
                <a16:creationId xmlns:a16="http://schemas.microsoft.com/office/drawing/2014/main" id="{A77DE147-B5F4-2ACB-66CD-729284B284B2}"/>
              </a:ext>
            </a:extLst>
          </p:cNvPr>
          <p:cNvSpPr>
            <a:spLocks noGrp="1"/>
          </p:cNvSpPr>
          <p:nvPr>
            <p:ph type="subTitle" idx="1"/>
          </p:nvPr>
        </p:nvSpPr>
        <p:spPr>
          <a:xfrm>
            <a:off x="1450848" y="1855534"/>
            <a:ext cx="9144000" cy="3969194"/>
          </a:xfrm>
        </p:spPr>
        <p:txBody>
          <a:bodyPr>
            <a:normAutofit/>
          </a:bodyPr>
          <a:lstStyle/>
          <a:p>
            <a:pPr algn="l"/>
            <a:r>
              <a:rPr lang="en-AU" sz="1400" dirty="0"/>
              <a:t>Choosing HYB means partnering with a team that is committed to delivering quality, reducing risk, and enabling successful business outcomes. </a:t>
            </a:r>
          </a:p>
          <a:p>
            <a:pPr marL="171450" indent="-171450" algn="l">
              <a:buFont typeface="Arial" panose="020B0604020202020204" pitchFamily="34" charset="0"/>
              <a:buChar char="•"/>
            </a:pPr>
            <a:r>
              <a:rPr lang="en-AU" sz="1200" b="1" dirty="0"/>
              <a:t>Quality-First Approach</a:t>
            </a:r>
            <a:r>
              <a:rPr lang="en-AU" sz="1200" dirty="0"/>
              <a:t> – We embed quality throughout the entire software delivery lifecycle.</a:t>
            </a:r>
          </a:p>
          <a:p>
            <a:pPr marL="171450" indent="-171450" algn="l">
              <a:buFont typeface="Arial" panose="020B0604020202020204" pitchFamily="34" charset="0"/>
              <a:buChar char="•"/>
            </a:pPr>
            <a:r>
              <a:rPr lang="en-AU" sz="1200" b="1" dirty="0"/>
              <a:t>Experienced Professionals</a:t>
            </a:r>
            <a:r>
              <a:rPr lang="en-AU" sz="1200" dirty="0"/>
              <a:t> – Our consultants bring extensive expertise in Quality Engineering, Testing, and Test Management.</a:t>
            </a:r>
          </a:p>
          <a:p>
            <a:pPr marL="171450" indent="-171450" algn="l">
              <a:buFont typeface="Arial" panose="020B0604020202020204" pitchFamily="34" charset="0"/>
              <a:buChar char="•"/>
            </a:pPr>
            <a:r>
              <a:rPr lang="en-AU" sz="1200" b="1" dirty="0"/>
              <a:t>End-to-End Testing Services</a:t>
            </a:r>
            <a:r>
              <a:rPr lang="en-AU" sz="1200" dirty="0"/>
              <a:t> – From strategy and planning through to production validation and post-go-live support.</a:t>
            </a:r>
          </a:p>
          <a:p>
            <a:pPr marL="171450" indent="-171450" algn="l">
              <a:buFont typeface="Arial" panose="020B0604020202020204" pitchFamily="34" charset="0"/>
              <a:buChar char="•"/>
            </a:pPr>
            <a:r>
              <a:rPr lang="en-AU" sz="1200" b="1" dirty="0"/>
              <a:t>Risk Reduction</a:t>
            </a:r>
            <a:r>
              <a:rPr lang="en-AU" sz="1200" dirty="0"/>
              <a:t> – We identify issues early, helping minimise project risks, costs, and delivery delays.</a:t>
            </a:r>
          </a:p>
          <a:p>
            <a:pPr marL="171450" indent="-171450" algn="l">
              <a:buFont typeface="Arial" panose="020B0604020202020204" pitchFamily="34" charset="0"/>
              <a:buChar char="•"/>
            </a:pPr>
            <a:r>
              <a:rPr lang="en-AU" sz="1200" b="1" dirty="0"/>
              <a:t>Compliance &amp; Governance</a:t>
            </a:r>
            <a:r>
              <a:rPr lang="en-AU" sz="1200" dirty="0"/>
              <a:t> – Supporting industry standards, regulatory requirements, and quality assurance best practices.</a:t>
            </a:r>
          </a:p>
          <a:p>
            <a:pPr marL="171450" indent="-171450" algn="l">
              <a:buFont typeface="Arial" panose="020B0604020202020204" pitchFamily="34" charset="0"/>
              <a:buChar char="•"/>
            </a:pPr>
            <a:r>
              <a:rPr lang="en-AU" sz="1200" b="1" dirty="0"/>
              <a:t>Flexible Engagement Models</a:t>
            </a:r>
            <a:r>
              <a:rPr lang="en-AU" sz="1200" dirty="0"/>
              <a:t> – On-site, remote, hybrid, project-based, or fully managed testing services.</a:t>
            </a:r>
          </a:p>
          <a:p>
            <a:pPr marL="171450" indent="-171450" algn="l">
              <a:buFont typeface="Arial" panose="020B0604020202020204" pitchFamily="34" charset="0"/>
              <a:buChar char="•"/>
            </a:pPr>
            <a:r>
              <a:rPr lang="en-AU" sz="1200" b="1" dirty="0"/>
              <a:t>Business-Focused Delivery</a:t>
            </a:r>
            <a:r>
              <a:rPr lang="en-AU" sz="1200" dirty="0"/>
              <a:t> – Aligning testing activities with your business objectives and customer expectations.</a:t>
            </a:r>
          </a:p>
          <a:p>
            <a:pPr marL="171450" indent="-171450" algn="l">
              <a:buFont typeface="Arial" panose="020B0604020202020204" pitchFamily="34" charset="0"/>
              <a:buChar char="•"/>
            </a:pPr>
            <a:r>
              <a:rPr lang="en-AU" sz="1200" b="1" dirty="0"/>
              <a:t>Transparent Communication</a:t>
            </a:r>
            <a:r>
              <a:rPr lang="en-AU" sz="1200" dirty="0"/>
              <a:t> – Clear reporting, measurable progress, and proactive stakeholder engagement.</a:t>
            </a:r>
          </a:p>
          <a:p>
            <a:pPr marL="171450" indent="-171450" algn="l">
              <a:buFont typeface="Arial" panose="020B0604020202020204" pitchFamily="34" charset="0"/>
              <a:buChar char="•"/>
            </a:pPr>
            <a:r>
              <a:rPr lang="en-AU" sz="1200" b="1" dirty="0"/>
              <a:t>Continuous Improvement</a:t>
            </a:r>
            <a:r>
              <a:rPr lang="en-AU" sz="1200" dirty="0"/>
              <a:t> – Driving quality maturity through process optimisation, automation, and lessons learned.</a:t>
            </a:r>
          </a:p>
          <a:p>
            <a:pPr marL="171450" indent="-171450" algn="l">
              <a:buFont typeface="Arial" panose="020B0604020202020204" pitchFamily="34" charset="0"/>
              <a:buChar char="•"/>
            </a:pPr>
            <a:r>
              <a:rPr lang="en-AU" sz="1200" b="1" dirty="0"/>
              <a:t>Trusted Partnership</a:t>
            </a:r>
            <a:r>
              <a:rPr lang="en-AU" sz="1200" dirty="0"/>
              <a:t> – We work as an extension of your team, committed to your long-term success.</a:t>
            </a:r>
          </a:p>
          <a:p>
            <a:pPr algn="l"/>
            <a:r>
              <a:rPr lang="en-AU" sz="1400" dirty="0"/>
              <a:t>At HYB, we don't just deliver testing services—we provide confidence, assurance, and a trusted partnership that helps organisations deliver high-quality technology with certainty.</a:t>
            </a:r>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178087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F4A5-8226-EA9A-DD8F-149A31092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57892-923E-1330-678F-2B9A836817F0}"/>
              </a:ext>
            </a:extLst>
          </p:cNvPr>
          <p:cNvSpPr>
            <a:spLocks noGrp="1"/>
          </p:cNvSpPr>
          <p:nvPr>
            <p:ph type="ctrTitle"/>
          </p:nvPr>
        </p:nvSpPr>
        <p:spPr>
          <a:xfrm>
            <a:off x="1524000" y="1122363"/>
            <a:ext cx="9144000" cy="587565"/>
          </a:xfrm>
        </p:spPr>
        <p:txBody>
          <a:bodyPr>
            <a:normAutofit/>
          </a:bodyPr>
          <a:lstStyle/>
          <a:p>
            <a:r>
              <a:rPr lang="en-AU" sz="3200" dirty="0"/>
              <a:t>HYB Consulting – Is It Time to Engage HYB?</a:t>
            </a:r>
          </a:p>
        </p:txBody>
      </p:sp>
      <p:sp>
        <p:nvSpPr>
          <p:cNvPr id="3" name="Subtitle 2">
            <a:extLst>
              <a:ext uri="{FF2B5EF4-FFF2-40B4-BE49-F238E27FC236}">
                <a16:creationId xmlns:a16="http://schemas.microsoft.com/office/drawing/2014/main" id="{61ABAC69-088D-3C81-C79F-2FEEFD5FBCA6}"/>
              </a:ext>
            </a:extLst>
          </p:cNvPr>
          <p:cNvSpPr>
            <a:spLocks noGrp="1"/>
          </p:cNvSpPr>
          <p:nvPr>
            <p:ph type="subTitle" idx="1"/>
          </p:nvPr>
        </p:nvSpPr>
        <p:spPr>
          <a:xfrm>
            <a:off x="1450848" y="1855534"/>
            <a:ext cx="9144000" cy="4593392"/>
          </a:xfrm>
        </p:spPr>
        <p:txBody>
          <a:bodyPr>
            <a:normAutofit/>
          </a:bodyPr>
          <a:lstStyle/>
          <a:p>
            <a:pPr algn="l"/>
            <a:r>
              <a:rPr lang="en-AU" sz="1400"/>
              <a:t>If </a:t>
            </a:r>
            <a:r>
              <a:rPr lang="en-AU" sz="1400" dirty="0"/>
              <a:t>you answer </a:t>
            </a:r>
            <a:r>
              <a:rPr lang="en-AU" sz="1400" b="1" dirty="0"/>
              <a:t>"Yes"</a:t>
            </a:r>
            <a:r>
              <a:rPr lang="en-AU" sz="1400" dirty="0"/>
              <a:t> to any of the following questions, HYB can help. </a:t>
            </a:r>
          </a:p>
          <a:p>
            <a:pPr marL="171450" indent="-171450" algn="l">
              <a:buFont typeface="Arial" panose="020B0604020202020204" pitchFamily="34" charset="0"/>
              <a:buChar char="•"/>
            </a:pPr>
            <a:r>
              <a:rPr lang="en-AU" sz="1300" dirty="0"/>
              <a:t>Are you planning a new project or digital transformation?</a:t>
            </a:r>
          </a:p>
          <a:p>
            <a:pPr marL="171450" indent="-171450" algn="l">
              <a:buFont typeface="Arial" panose="020B0604020202020204" pitchFamily="34" charset="0"/>
              <a:buChar char="•"/>
            </a:pPr>
            <a:r>
              <a:rPr lang="en-AU" sz="1300" dirty="0"/>
              <a:t>Are you preparing for a major system upgrade or production release?</a:t>
            </a:r>
          </a:p>
          <a:p>
            <a:pPr marL="171450" indent="-171450" algn="l">
              <a:buFont typeface="Arial" panose="020B0604020202020204" pitchFamily="34" charset="0"/>
              <a:buChar char="•"/>
            </a:pPr>
            <a:r>
              <a:rPr lang="en-AU" sz="1300" dirty="0"/>
              <a:t>Do you need independent quality assurance before go-live?</a:t>
            </a:r>
          </a:p>
          <a:p>
            <a:pPr marL="171450" indent="-171450" algn="l">
              <a:buFont typeface="Arial" panose="020B0604020202020204" pitchFamily="34" charset="0"/>
              <a:buChar char="•"/>
            </a:pPr>
            <a:r>
              <a:rPr lang="en-AU" sz="1300" dirty="0"/>
              <a:t>Are you experiencing recurring defects or production issues?</a:t>
            </a:r>
          </a:p>
          <a:p>
            <a:pPr marL="171450" indent="-171450" algn="l">
              <a:buFont typeface="Arial" panose="020B0604020202020204" pitchFamily="34" charset="0"/>
              <a:buChar char="•"/>
            </a:pPr>
            <a:r>
              <a:rPr lang="en-AU" sz="1300" dirty="0"/>
              <a:t>Is your current testing process delaying project delivery?</a:t>
            </a:r>
          </a:p>
          <a:p>
            <a:pPr marL="171450" indent="-171450" algn="l">
              <a:buFont typeface="Arial" panose="020B0604020202020204" pitchFamily="34" charset="0"/>
              <a:buChar char="•"/>
            </a:pPr>
            <a:r>
              <a:rPr lang="en-AU" sz="1300" dirty="0"/>
              <a:t>Do you need specialist expertise in performance, security, accessibility, or integration testing?</a:t>
            </a:r>
          </a:p>
          <a:p>
            <a:pPr marL="171450" indent="-171450" algn="l">
              <a:buFont typeface="Arial" panose="020B0604020202020204" pitchFamily="34" charset="0"/>
              <a:buChar char="•"/>
            </a:pPr>
            <a:r>
              <a:rPr lang="en-AU" sz="1300" dirty="0"/>
              <a:t>Are you undertaking a data migration or system modernisation project?</a:t>
            </a:r>
          </a:p>
          <a:p>
            <a:pPr marL="171450" indent="-171450" algn="l">
              <a:buFont typeface="Arial" panose="020B0604020202020204" pitchFamily="34" charset="0"/>
              <a:buChar char="•"/>
            </a:pPr>
            <a:r>
              <a:rPr lang="en-AU" sz="1300" dirty="0"/>
              <a:t>Do you need to meet industry or government compliance requirements?</a:t>
            </a:r>
          </a:p>
          <a:p>
            <a:pPr marL="171450" indent="-171450" algn="l">
              <a:buFont typeface="Arial" panose="020B0604020202020204" pitchFamily="34" charset="0"/>
              <a:buChar char="•"/>
            </a:pPr>
            <a:r>
              <a:rPr lang="en-AU" sz="1300" dirty="0"/>
              <a:t>Are you looking to improve your testing maturity, governance, or automation capabilities?</a:t>
            </a:r>
          </a:p>
          <a:p>
            <a:pPr marL="171450" indent="-171450" algn="l">
              <a:buFont typeface="Arial" panose="020B0604020202020204" pitchFamily="34" charset="0"/>
              <a:buChar char="•"/>
            </a:pPr>
            <a:r>
              <a:rPr lang="en-AU" sz="1300" dirty="0"/>
              <a:t>Do you need additional QA resources to support your project or release?</a:t>
            </a:r>
          </a:p>
          <a:p>
            <a:pPr marL="171450" indent="-171450" algn="l">
              <a:buFont typeface="Arial" panose="020B0604020202020204" pitchFamily="34" charset="0"/>
              <a:buChar char="•"/>
            </a:pPr>
            <a:r>
              <a:rPr lang="en-AU" sz="1300" dirty="0"/>
              <a:t>Are you looking for a trusted Quality Engineering partner rather than just a testing provider?</a:t>
            </a:r>
          </a:p>
          <a:p>
            <a:pPr marL="171450" indent="-171450" algn="l">
              <a:buFont typeface="Arial" panose="020B0604020202020204" pitchFamily="34" charset="0"/>
              <a:buChar char="•"/>
            </a:pPr>
            <a:r>
              <a:rPr lang="en-AU" sz="1300" dirty="0"/>
              <a:t>Do you want greater confidence that your technology will perform as expected before it reaches your customers?</a:t>
            </a:r>
          </a:p>
          <a:p>
            <a:pPr marL="171450" indent="-171450" algn="l">
              <a:buFont typeface="Arial" panose="020B0604020202020204" pitchFamily="34" charset="0"/>
              <a:buChar char="•"/>
            </a:pPr>
            <a:r>
              <a:rPr lang="en-AU" sz="1300" dirty="0"/>
              <a:t>If any of these challenges sound familiar, HYB is ready to partner with you to deliver quality, reduce risk, and ensure successful project outcomes.</a:t>
            </a:r>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737172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FF5B-6488-DDCD-B437-8D60708C3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CC76A-93C3-C8D0-9C09-A623955EA1A8}"/>
              </a:ext>
            </a:extLst>
          </p:cNvPr>
          <p:cNvSpPr>
            <a:spLocks noGrp="1"/>
          </p:cNvSpPr>
          <p:nvPr>
            <p:ph type="ctrTitle"/>
          </p:nvPr>
        </p:nvSpPr>
        <p:spPr>
          <a:xfrm>
            <a:off x="1524000" y="1122363"/>
            <a:ext cx="9144000" cy="587565"/>
          </a:xfrm>
        </p:spPr>
        <p:txBody>
          <a:bodyPr>
            <a:normAutofit/>
          </a:bodyPr>
          <a:lstStyle/>
          <a:p>
            <a:r>
              <a:rPr lang="en-AU" sz="3200" dirty="0"/>
              <a:t>HYB Consulting – Is It Time to Engage HYB? count</a:t>
            </a:r>
          </a:p>
        </p:txBody>
      </p:sp>
      <p:sp>
        <p:nvSpPr>
          <p:cNvPr id="3" name="Subtitle 2">
            <a:extLst>
              <a:ext uri="{FF2B5EF4-FFF2-40B4-BE49-F238E27FC236}">
                <a16:creationId xmlns:a16="http://schemas.microsoft.com/office/drawing/2014/main" id="{8954040B-3FC8-3B79-2E0B-F28B8303259F}"/>
              </a:ext>
            </a:extLst>
          </p:cNvPr>
          <p:cNvSpPr>
            <a:spLocks noGrp="1"/>
          </p:cNvSpPr>
          <p:nvPr>
            <p:ph type="subTitle" idx="1"/>
          </p:nvPr>
        </p:nvSpPr>
        <p:spPr>
          <a:xfrm>
            <a:off x="1450848" y="1855534"/>
            <a:ext cx="9144000" cy="3969194"/>
          </a:xfrm>
        </p:spPr>
        <p:txBody>
          <a:bodyPr>
            <a:normAutofit/>
          </a:bodyPr>
          <a:lstStyle/>
          <a:p>
            <a:pPr marL="171450" indent="-171450" algn="l">
              <a:buFont typeface="Arial" panose="020B0604020202020204" pitchFamily="34" charset="0"/>
              <a:buChar char="•"/>
            </a:pPr>
            <a:r>
              <a:rPr lang="en-AU" sz="1200" dirty="0"/>
              <a:t>What? Why? Who? Where? When? how</a:t>
            </a:r>
          </a:p>
          <a:p>
            <a:pPr marL="171450" indent="-171450" algn="l">
              <a:buFont typeface="Arial" panose="020B0604020202020204" pitchFamily="34" charset="0"/>
              <a:buChar char="•"/>
            </a:pPr>
            <a:r>
              <a:rPr lang="en-AU" sz="1200" dirty="0"/>
              <a:t>What covers quality engineering – QA and QC processes </a:t>
            </a:r>
          </a:p>
          <a:p>
            <a:pPr marL="171450" indent="-171450" algn="l">
              <a:buFont typeface="Arial" panose="020B0604020202020204" pitchFamily="34" charset="0"/>
              <a:buChar char="•"/>
            </a:pPr>
            <a:r>
              <a:rPr lang="en-AU" sz="1200" dirty="0"/>
              <a:t>How can we implement QA  - How the organisation assure that the quality they are looking for ? </a:t>
            </a:r>
          </a:p>
          <a:p>
            <a:pPr marL="171450" indent="-171450" algn="l">
              <a:buFont typeface="Arial" panose="020B0604020202020204" pitchFamily="34" charset="0"/>
              <a:buChar char="•"/>
            </a:pPr>
            <a:r>
              <a:rPr lang="en-AU" sz="1200" dirty="0"/>
              <a:t>What are the different methods to assure the quality ? – Audit is the only method? Or what else? How many types of audits? Any compliances on different types of software and engineering ?  ( </a:t>
            </a:r>
            <a:r>
              <a:rPr lang="en-AU" sz="1200" dirty="0" err="1"/>
              <a:t>e.g</a:t>
            </a:r>
            <a:r>
              <a:rPr lang="en-AU" sz="1200" dirty="0"/>
              <a:t> accessibility audit, security audit, HA audit etc, </a:t>
            </a:r>
            <a:r>
              <a:rPr lang="en-AU" sz="1200" dirty="0" err="1"/>
              <a:t>Distater</a:t>
            </a:r>
            <a:r>
              <a:rPr lang="en-AU" sz="1200" dirty="0"/>
              <a:t> audit) , SLA s on different </a:t>
            </a:r>
            <a:r>
              <a:rPr lang="en-AU" sz="1200" dirty="0" err="1"/>
              <a:t>audiets</a:t>
            </a:r>
            <a:r>
              <a:rPr lang="en-AU" sz="1200" dirty="0"/>
              <a:t>? ( </a:t>
            </a:r>
            <a:r>
              <a:rPr lang="en-AU" sz="1200" dirty="0" err="1"/>
              <a:t>e.g</a:t>
            </a:r>
            <a:r>
              <a:rPr lang="en-AU" sz="1200" dirty="0"/>
              <a:t> CIS percentage during security )</a:t>
            </a:r>
          </a:p>
          <a:p>
            <a:pPr marL="171450" indent="-171450" algn="l">
              <a:buFont typeface="Arial" panose="020B0604020202020204" pitchFamily="34" charset="0"/>
              <a:buChar char="•"/>
            </a:pPr>
            <a:r>
              <a:rPr lang="en-AU" sz="1200" dirty="0"/>
              <a:t>How can we control quality ? – How the organisation control the quality to get assure the quality they are looking for? </a:t>
            </a:r>
          </a:p>
          <a:p>
            <a:pPr marL="171450" indent="-171450" algn="l">
              <a:buFont typeface="Arial" panose="020B0604020202020204" pitchFamily="34" charset="0"/>
              <a:buChar char="•"/>
            </a:pPr>
            <a:r>
              <a:rPr lang="en-AU" sz="1200" dirty="0"/>
              <a:t>What are the different methods to control the quality ? – Test activities in software ? Test activities in Engineering ? </a:t>
            </a:r>
          </a:p>
          <a:p>
            <a:pPr marL="171450" indent="-171450" algn="l">
              <a:buFont typeface="Arial" panose="020B0604020202020204" pitchFamily="34" charset="0"/>
              <a:buChar char="•"/>
            </a:pPr>
            <a:r>
              <a:rPr lang="en-AU" sz="1200" dirty="0"/>
              <a:t>Why the data migrations project failed? How can we help to control and assure the quality for migration ? – </a:t>
            </a:r>
          </a:p>
          <a:p>
            <a:pPr marL="171450" indent="-171450" algn="l">
              <a:buFont typeface="Arial" panose="020B0604020202020204" pitchFamily="34" charset="0"/>
              <a:buChar char="•"/>
            </a:pPr>
            <a:r>
              <a:rPr lang="en-AU" sz="1200" dirty="0"/>
              <a:t>How we help to test the new data during migration process – Test data </a:t>
            </a:r>
            <a:r>
              <a:rPr lang="en-AU" sz="1200" dirty="0" err="1"/>
              <a:t>managnment</a:t>
            </a:r>
            <a:r>
              <a:rPr lang="en-AU" sz="1200" dirty="0"/>
              <a:t> - how we can create the synthetic data for TOBE software for testing ? </a:t>
            </a:r>
          </a:p>
          <a:p>
            <a:pPr marL="171450" indent="-171450" algn="l">
              <a:buFont typeface="Arial" panose="020B0604020202020204" pitchFamily="34" charset="0"/>
              <a:buChar char="•"/>
            </a:pPr>
            <a:r>
              <a:rPr lang="en-AU" sz="1200" dirty="0"/>
              <a:t>What tools we will use to analyse your </a:t>
            </a:r>
            <a:r>
              <a:rPr lang="en-AU" sz="1200" dirty="0" err="1"/>
              <a:t>orginasation</a:t>
            </a:r>
            <a:r>
              <a:rPr lang="en-AU" sz="1200" dirty="0"/>
              <a:t> ? System? Test processes ? </a:t>
            </a:r>
          </a:p>
          <a:p>
            <a:pPr marL="171450" indent="-171450" algn="l">
              <a:buFont typeface="Arial" panose="020B0604020202020204" pitchFamily="34" charset="0"/>
              <a:buChar char="•"/>
            </a:pPr>
            <a:r>
              <a:rPr lang="en-AU" sz="1200" dirty="0"/>
              <a:t>How we can help to bring your quality </a:t>
            </a:r>
            <a:r>
              <a:rPr lang="en-AU" sz="1200" dirty="0" err="1"/>
              <a:t>upto</a:t>
            </a:r>
            <a:r>
              <a:rPr lang="en-AU" sz="1200" dirty="0"/>
              <a:t> level ?</a:t>
            </a:r>
          </a:p>
          <a:p>
            <a:pPr marL="171450" indent="-171450" algn="l">
              <a:buFont typeface="Arial" panose="020B0604020202020204" pitchFamily="34" charset="0"/>
              <a:buChar char="•"/>
            </a:pPr>
            <a:r>
              <a:rPr lang="en-AU" sz="1200" dirty="0"/>
              <a:t>Why  </a:t>
            </a:r>
            <a:r>
              <a:rPr lang="en-AU" sz="1200" dirty="0" err="1"/>
              <a:t>orgiasation</a:t>
            </a:r>
            <a:r>
              <a:rPr lang="en-AU" sz="1200" dirty="0"/>
              <a:t> choose us ? </a:t>
            </a:r>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3388560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CEE9B-6CD0-3156-B093-BEB6733CE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8DA3-E367-CFBA-BCA5-54E746A3A099}"/>
              </a:ext>
            </a:extLst>
          </p:cNvPr>
          <p:cNvSpPr>
            <a:spLocks noGrp="1"/>
          </p:cNvSpPr>
          <p:nvPr>
            <p:ph type="ctrTitle"/>
          </p:nvPr>
        </p:nvSpPr>
        <p:spPr>
          <a:xfrm>
            <a:off x="1524000" y="1122363"/>
            <a:ext cx="9144000" cy="587565"/>
          </a:xfrm>
        </p:spPr>
        <p:txBody>
          <a:bodyPr>
            <a:normAutofit/>
          </a:bodyPr>
          <a:lstStyle/>
          <a:p>
            <a:r>
              <a:rPr lang="en-AU" sz="3200" dirty="0"/>
              <a:t>HYB Consulting – Where Our Team Works?  </a:t>
            </a:r>
          </a:p>
        </p:txBody>
      </p:sp>
      <p:sp>
        <p:nvSpPr>
          <p:cNvPr id="3" name="Subtitle 2">
            <a:extLst>
              <a:ext uri="{FF2B5EF4-FFF2-40B4-BE49-F238E27FC236}">
                <a16:creationId xmlns:a16="http://schemas.microsoft.com/office/drawing/2014/main" id="{5C153FEC-577A-2206-DBD3-F2F92DAD5746}"/>
              </a:ext>
            </a:extLst>
          </p:cNvPr>
          <p:cNvSpPr>
            <a:spLocks noGrp="1"/>
          </p:cNvSpPr>
          <p:nvPr>
            <p:ph type="subTitle" idx="1"/>
          </p:nvPr>
        </p:nvSpPr>
        <p:spPr>
          <a:xfrm>
            <a:off x="1450848" y="1855534"/>
            <a:ext cx="9144000" cy="3969194"/>
          </a:xfrm>
        </p:spPr>
        <p:txBody>
          <a:bodyPr>
            <a:normAutofit/>
          </a:bodyPr>
          <a:lstStyle/>
          <a:p>
            <a:pPr algn="l"/>
            <a:r>
              <a:rPr lang="en-AU" sz="1400" dirty="0"/>
              <a:t>HYB provides Quality Engineering and Testing services across Australia through flexible delivery models tailored to our clients' needs. Our flexible engagement approach enables us to integrate seamlessly with your organisation, delivering consistent quality, transparent communication, and trusted outcomes regardless of location.</a:t>
            </a:r>
          </a:p>
          <a:p>
            <a:pPr marL="171450" indent="-171450" algn="l">
              <a:buFont typeface="Arial" panose="020B0604020202020204" pitchFamily="34" charset="0"/>
              <a:buChar char="•"/>
            </a:pPr>
            <a:r>
              <a:rPr lang="en-AU" sz="1200" b="1" dirty="0"/>
              <a:t>Australia-Wide Support</a:t>
            </a:r>
            <a:r>
              <a:rPr lang="en-AU" sz="1200" dirty="0"/>
              <a:t> – Delivering services to organisations across metropolitan, regional, and remote locations.</a:t>
            </a:r>
          </a:p>
          <a:p>
            <a:pPr marL="171450" indent="-171450" algn="l">
              <a:buFont typeface="Arial" panose="020B0604020202020204" pitchFamily="34" charset="0"/>
              <a:buChar char="•"/>
            </a:pPr>
            <a:r>
              <a:rPr lang="en-AU" sz="1200" b="1" dirty="0"/>
              <a:t>On-Site Engagement</a:t>
            </a:r>
            <a:r>
              <a:rPr lang="en-AU" sz="1200" dirty="0"/>
              <a:t> – Working directly with your teams at your office or project location.</a:t>
            </a:r>
          </a:p>
          <a:p>
            <a:pPr marL="171450" indent="-171450" algn="l">
              <a:buFont typeface="Arial" panose="020B0604020202020204" pitchFamily="34" charset="0"/>
              <a:buChar char="•"/>
            </a:pPr>
            <a:r>
              <a:rPr lang="en-AU" sz="1200" b="1" dirty="0"/>
              <a:t>Remote Delivery</a:t>
            </a:r>
            <a:r>
              <a:rPr lang="en-AU" sz="1200" dirty="0"/>
              <a:t> – Providing seamless testing and quality engineering services from anywhere in Australia.</a:t>
            </a:r>
          </a:p>
          <a:p>
            <a:pPr marL="171450" indent="-171450" algn="l">
              <a:buFont typeface="Arial" panose="020B0604020202020204" pitchFamily="34" charset="0"/>
              <a:buChar char="•"/>
            </a:pPr>
            <a:r>
              <a:rPr lang="en-AU" sz="1200" b="1" dirty="0"/>
              <a:t>Hybrid Engagement Model</a:t>
            </a:r>
            <a:r>
              <a:rPr lang="en-AU" sz="1200" dirty="0"/>
              <a:t> – Combining on-site collaboration with remote delivery for maximum flexibility and efficiency.</a:t>
            </a:r>
          </a:p>
          <a:p>
            <a:pPr marL="171450" indent="-171450" algn="l">
              <a:buFont typeface="Arial" panose="020B0604020202020204" pitchFamily="34" charset="0"/>
              <a:buChar char="•"/>
            </a:pPr>
            <a:r>
              <a:rPr lang="en-AU" sz="1200" b="1" dirty="0"/>
              <a:t>Cross-Functional Collaboration</a:t>
            </a:r>
            <a:r>
              <a:rPr lang="en-AU" sz="1200" dirty="0"/>
              <a:t> – Partnering with business stakeholders, project teams, developers, vendors, and third-party suppliers.</a:t>
            </a:r>
          </a:p>
          <a:p>
            <a:pPr marL="171450" indent="-171450" algn="l">
              <a:buFont typeface="Arial" panose="020B0604020202020204" pitchFamily="34" charset="0"/>
              <a:buChar char="•"/>
            </a:pPr>
            <a:r>
              <a:rPr lang="en-AU" sz="1200" b="1" dirty="0"/>
              <a:t>Flexible Resourcing</a:t>
            </a:r>
            <a:r>
              <a:rPr lang="en-AU" sz="1200" dirty="0"/>
              <a:t> – Supporting projects with individual QA specialists, dedicated testing teams, or fully managed Quality Engineering services.</a:t>
            </a:r>
          </a:p>
          <a:p>
            <a:pPr marL="171450" indent="-171450" algn="l">
              <a:buFont typeface="Arial" panose="020B0604020202020204" pitchFamily="34" charset="0"/>
              <a:buChar char="•"/>
            </a:pPr>
            <a:r>
              <a:rPr lang="en-AU" sz="1200" b="1" dirty="0"/>
              <a:t>Scalable Delivery</a:t>
            </a:r>
            <a:r>
              <a:rPr lang="en-AU" sz="1200" dirty="0"/>
              <a:t> – Quickly scaling resources to meet changing project demands, timelines, and business priorities.</a:t>
            </a:r>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a:p>
            <a:pPr marL="171450" indent="-171450" algn="l">
              <a:buFont typeface="Arial" panose="020B0604020202020204" pitchFamily="34" charset="0"/>
              <a:buChar char="•"/>
            </a:pPr>
            <a:endParaRPr lang="en-AU" sz="1200" dirty="0"/>
          </a:p>
        </p:txBody>
      </p:sp>
    </p:spTree>
    <p:extLst>
      <p:ext uri="{BB962C8B-B14F-4D97-AF65-F5344CB8AC3E}">
        <p14:creationId xmlns:p14="http://schemas.microsoft.com/office/powerpoint/2010/main" val="1692516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427</TotalTime>
  <Words>1949</Words>
  <Application>Microsoft Office PowerPoint</Application>
  <PresentationFormat>Widescreen</PresentationFormat>
  <Paragraphs>112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HYB Consulting – About Us</vt:lpstr>
      <vt:lpstr>HYB Consulting - Services – Quality Control  </vt:lpstr>
      <vt:lpstr>HYB Consulting - Services – Quality Assurance</vt:lpstr>
      <vt:lpstr>HYB Consulting – How We Work ?</vt:lpstr>
      <vt:lpstr>HYB Consulting – Our Engagement Model </vt:lpstr>
      <vt:lpstr>HYB Consulting – Why Engage With HYB?</vt:lpstr>
      <vt:lpstr>HYB Consulting – Is It Time to Engage HYB?</vt:lpstr>
      <vt:lpstr>HYB Consulting – Is It Time to Engage HYB? count</vt:lpstr>
      <vt:lpstr>HYB Consulting – Where Our Team Works?  </vt:lpstr>
    </vt:vector>
  </TitlesOfParts>
  <Company>CHED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Barhate, Harsha</dc:creator>
  <cp:lastModifiedBy>Barhate, Harsha</cp:lastModifiedBy>
  <cp:revision>1</cp:revision>
  <dcterms:created xsi:type="dcterms:W3CDTF">2025-11-06T10:50:56Z</dcterms:created>
  <dcterms:modified xsi:type="dcterms:W3CDTF">2026-07-10T10:31:51Z</dcterms:modified>
</cp:coreProperties>
</file>